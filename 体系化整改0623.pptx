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16955" r:id="rId3"/>
    <p:sldId id="16951" r:id="rId5"/>
    <p:sldId id="16953" r:id="rId6"/>
    <p:sldId id="16952" r:id="rId7"/>
    <p:sldId id="16956" r:id="rId8"/>
  </p:sldIdLst>
  <p:sldSz cx="12192000" cy="6858000"/>
  <p:notesSz cx="6797675" cy="992632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36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中天人力" initials="中天人力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4D4D"/>
    <a:srgbClr val="FFFFFF"/>
    <a:srgbClr val="C2FDF2"/>
    <a:srgbClr val="84FBE5"/>
    <a:srgbClr val="4276AA"/>
    <a:srgbClr val="6292C2"/>
    <a:srgbClr val="5BA3EB"/>
    <a:srgbClr val="FE8767"/>
    <a:srgbClr val="F95C5C"/>
    <a:srgbClr val="F9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80920" autoAdjust="0"/>
  </p:normalViewPr>
  <p:slideViewPr>
    <p:cSldViewPr snapToGrid="0" showGuides="1">
      <p:cViewPr>
        <p:scale>
          <a:sx n="50" d="100"/>
          <a:sy n="50" d="100"/>
        </p:scale>
        <p:origin x="1196" y="116"/>
      </p:cViewPr>
      <p:guideLst>
        <p:guide orient="horz" pos="2089"/>
        <p:guide pos="36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7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 userDrawn="1"/>
        </p:nvSpPr>
        <p:spPr>
          <a:xfrm>
            <a:off x="4526598" y="5439410"/>
            <a:ext cx="3139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068C0"/>
                </a:solidFill>
                <a:effectLst/>
                <a:sym typeface="+mn-ea"/>
              </a:rPr>
              <a:t>杭州迪普科技股份有限公司</a:t>
            </a:r>
            <a:endParaRPr lang="zh-CN" altLang="en-US" dirty="0">
              <a:solidFill>
                <a:srgbClr val="2068C0"/>
              </a:solidFill>
              <a:effectLst/>
              <a:sym typeface="+mn-ea"/>
            </a:endParaRPr>
          </a:p>
        </p:txBody>
      </p:sp>
      <p:pic>
        <p:nvPicPr>
          <p:cNvPr id="21" name="图片 20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985" y="864870"/>
            <a:ext cx="5343525" cy="13081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 flipH="1">
            <a:off x="0" y="1912620"/>
            <a:ext cx="12192635" cy="3024505"/>
          </a:xfrm>
          <a:prstGeom prst="rect">
            <a:avLst/>
          </a:prstGeom>
          <a:gradFill flip="none" rotWithShape="1">
            <a:gsLst>
              <a:gs pos="0">
                <a:srgbClr val="3594E5"/>
              </a:gs>
              <a:gs pos="73000">
                <a:srgbClr val="1047A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 userDrawn="1"/>
        </p:nvSpPr>
        <p:spPr>
          <a:xfrm>
            <a:off x="8987790" y="2348230"/>
            <a:ext cx="2267585" cy="2267585"/>
          </a:xfrm>
          <a:prstGeom prst="ellipse">
            <a:avLst/>
          </a:prstGeom>
          <a:gradFill flip="none" rotWithShape="1">
            <a:gsLst>
              <a:gs pos="0">
                <a:srgbClr val="3E98E6">
                  <a:alpha val="50000"/>
                </a:srgbClr>
              </a:gs>
              <a:gs pos="100000">
                <a:srgbClr val="1047A4">
                  <a:alpha val="6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9246870" y="2994575"/>
            <a:ext cx="1758171" cy="974895"/>
            <a:chOff x="13542" y="3866"/>
            <a:chExt cx="3143" cy="1743"/>
          </a:xfrm>
        </p:grpSpPr>
        <p:pic>
          <p:nvPicPr>
            <p:cNvPr id="25" name="图片 24" descr="迪普LOGO-白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56" y="3866"/>
              <a:ext cx="2899" cy="1061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13542" y="5006"/>
              <a:ext cx="3143" cy="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www.dptech.com</a:t>
              </a:r>
              <a:endParaRPr lang="en-US" altLang="zh-CN" sz="160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</p:grpSp>
      <p:sp>
        <p:nvSpPr>
          <p:cNvPr id="27" name="椭圆 26"/>
          <p:cNvSpPr/>
          <p:nvPr userDrawn="1"/>
        </p:nvSpPr>
        <p:spPr>
          <a:xfrm>
            <a:off x="8171815" y="4056380"/>
            <a:ext cx="505460" cy="505460"/>
          </a:xfrm>
          <a:prstGeom prst="ellipse">
            <a:avLst/>
          </a:prstGeom>
          <a:gradFill flip="none" rotWithShape="1">
            <a:gsLst>
              <a:gs pos="0">
                <a:srgbClr val="3E98E6">
                  <a:alpha val="50000"/>
                </a:srgbClr>
              </a:gs>
              <a:gs pos="100000">
                <a:srgbClr val="1047A4">
                  <a:alpha val="6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715"/>
            <a:ext cx="12192000" cy="1842135"/>
          </a:xfrm>
          <a:prstGeom prst="rect">
            <a:avLst/>
          </a:prstGeom>
          <a:blipFill rotWithShape="1">
            <a:blip r:embed="rId2"/>
            <a:srcRect/>
            <a:stretch>
              <a:fillRect t="-201069" b="-19963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/>
        </p:nvSpPr>
        <p:spPr>
          <a:xfrm flipH="1">
            <a:off x="0" y="1270"/>
            <a:ext cx="12192000" cy="1841500"/>
          </a:xfrm>
          <a:prstGeom prst="rect">
            <a:avLst/>
          </a:prstGeom>
          <a:gradFill flip="none" rotWithShape="1">
            <a:gsLst>
              <a:gs pos="0">
                <a:srgbClr val="3E98E6">
                  <a:alpha val="0"/>
                </a:srgbClr>
              </a:gs>
              <a:gs pos="100000">
                <a:srgbClr val="1047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 userDrawn="1"/>
        </p:nvSpPr>
        <p:spPr>
          <a:xfrm>
            <a:off x="721360" y="557927"/>
            <a:ext cx="6051551" cy="714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4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  </a:t>
            </a:r>
            <a:r>
              <a:rPr lang="en-US" altLang="zh-CN" sz="4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lang="zh-CN" altLang="en-US" sz="4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45123"/>
            <a:ext cx="175895" cy="391160"/>
          </a:xfrm>
          <a:prstGeom prst="rect">
            <a:avLst/>
          </a:prstGeom>
          <a:gradFill>
            <a:gsLst>
              <a:gs pos="0">
                <a:srgbClr val="3D96E5"/>
              </a:gs>
              <a:gs pos="100000">
                <a:srgbClr val="144EAA"/>
              </a:gs>
            </a:gsLst>
            <a:lin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 descr="迪普LOGO-无文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2300" y="327660"/>
            <a:ext cx="1082040" cy="386080"/>
          </a:xfrm>
          <a:prstGeom prst="rect">
            <a:avLst/>
          </a:prstGeom>
        </p:spPr>
      </p:pic>
      <p:sp>
        <p:nvSpPr>
          <p:cNvPr id="6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56540" y="217170"/>
            <a:ext cx="10401935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7314565" y="1498600"/>
            <a:ext cx="3421380" cy="3421380"/>
          </a:xfrm>
          <a:prstGeom prst="ellipse">
            <a:avLst/>
          </a:prstGeom>
          <a:gradFill flip="none" rotWithShape="1">
            <a:gsLst>
              <a:gs pos="0">
                <a:srgbClr val="3B93E2"/>
              </a:gs>
              <a:gs pos="100000">
                <a:srgbClr val="134CA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椭圆 3"/>
          <p:cNvSpPr/>
          <p:nvPr userDrawn="1"/>
        </p:nvSpPr>
        <p:spPr>
          <a:xfrm>
            <a:off x="6803390" y="4671060"/>
            <a:ext cx="660400" cy="660400"/>
          </a:xfrm>
          <a:prstGeom prst="ellipse">
            <a:avLst/>
          </a:prstGeom>
          <a:gradFill flip="none" rotWithShape="1">
            <a:gsLst>
              <a:gs pos="0">
                <a:srgbClr val="3B93E2"/>
              </a:gs>
              <a:gs pos="100000">
                <a:srgbClr val="134CA8">
                  <a:alpha val="10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椭圆 2"/>
          <p:cNvSpPr/>
          <p:nvPr userDrawn="1"/>
        </p:nvSpPr>
        <p:spPr>
          <a:xfrm>
            <a:off x="6898640" y="1576705"/>
            <a:ext cx="3343910" cy="3343275"/>
          </a:xfrm>
          <a:prstGeom prst="ellipse">
            <a:avLst/>
          </a:prstGeom>
          <a:blipFill rotWithShape="1">
            <a:blip r:embed="rId2"/>
            <a:stretch>
              <a:fillRect l="-38000" r="-38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5" name="图片 4" descr="迪普LOGO-无文字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82300" y="327660"/>
            <a:ext cx="1082040" cy="386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3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4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5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6.xml"/><Relationship Id="rId2" Type="http://schemas.openxmlformats.org/officeDocument/2006/relationships/image" Target="../media/image10.emf"/><Relationship Id="rId1" Type="http://schemas.openxmlformats.org/officeDocument/2006/relationships/package" Target="../embeddings/Document1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96315" y="965200"/>
          <a:ext cx="10199370" cy="5395595"/>
        </p:xfrm>
        <a:graphic>
          <a:graphicData uri="http://schemas.openxmlformats.org/drawingml/2006/table">
            <a:tbl>
              <a:tblPr/>
              <a:tblGrid>
                <a:gridCol w="539750"/>
                <a:gridCol w="692785"/>
                <a:gridCol w="8966835"/>
              </a:tblGrid>
              <a:tr h="22606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子系统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整体内容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770">
                <a:tc rowSpan="20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PMS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增加：用户维度做资产管理，包含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: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用户编码、用户名称、用户地址、用户行业、用户服务等级、用户所属单位、用户所属部门、用户职位、用户联系人姓名、用户联系人电话、用户联系人邮箱、用户联系人地址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调整：用服系统中“客户”调整为“用户”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增加：最终用户，用于区别下单客户和最终使用用户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增加：用户信息从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中同步至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后续维护的用户信息也可反向同步给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7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增加：通过用服日常工作记录更新和维护用户信息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增加：客户维度的故障档案、服务档案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11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设备信息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增加：设备配置，支持历史信息存储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增加：部署风险，针对单机、单点风险做出描述，并将冗余部署情况列出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增加：运行业务，通过用服与客户沟通获取设备运行业务情况，并将运行业务与相应配置做关联绑定，形成业务档案上传至设备和项目中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3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增加：启用功能，通过设备特定配置命令获取设备启用功能情况，自动回传至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设备序列号对应位置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增加：接口对照表，通过设备特定配置命令获取接口配置和描述信息，与客户沟通了解对端接口信息，输出接口对照表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3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增加：网络拓扑，根据接口对照表关系，自动生成网络拓扑（非图片），标注上下游设备情况、接口互联等情况。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调整：出厂的软硬件信息，由供应链系统导入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为真实产品信息，用服侧无定制化概念。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增加：官网版本获取能力，设备出厂时自动匹配对应官网版本，并通过系统导入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PMS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调整：“软件版本”调整为“用户在线版本”，标识在客户侧的版本号（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show version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显示），对用户。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增加：分支版本，应对特殊情况产生的特殊版本，分支版本标识了真实使用分支版本号，对内。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增加：设备安装地址通过一码通方式获取定位后填写，并可上传设备照片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售前测试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增加：首次临时授权实现自动化，售前测试设备发货后，可自动获取首次临时授权。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割接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增加：割接全流程管理内容，包含：割接申请、割接方案审核、割接保障、割接问题处理、割接闭环流程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875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增加：割接保障备件自动关联备件申请流程；割接保障涉及备件申请的情况，直接自动关联备件申请流程。割接完成后，需完成备件退回流程，才能闭环。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ITR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RMA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RMA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故障结果调用，当解决方案为硬件故障时，直接调用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RMA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流程，支持处理进展、闭环等能力。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故障报告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增加：故障报告归档，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ITR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实现故障处理全流程闭环。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7325" y="310515"/>
            <a:ext cx="3434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一、系统</a:t>
            </a:r>
            <a:r>
              <a:rPr lang="zh-CN" altLang="en-US" sz="2400"/>
              <a:t>整改任务</a:t>
            </a:r>
            <a:r>
              <a:rPr lang="zh-CN" altLang="en-US" sz="2400"/>
              <a:t>清单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7325" y="310515"/>
            <a:ext cx="3243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二、信息采集</a:t>
            </a:r>
            <a:r>
              <a:rPr lang="zh-CN" altLang="en-US" sz="2400"/>
              <a:t>方案</a:t>
            </a:r>
            <a:endParaRPr lang="zh-CN" altLang="en-US" sz="240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0390" y="962025"/>
          <a:ext cx="8992870" cy="505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6449695" imgH="3623945" progId="Visio.Drawing.15">
                  <p:embed/>
                </p:oleObj>
              </mc:Choice>
              <mc:Fallback>
                <p:oleObj name="" r:id="rId1" imgW="6449695" imgH="3623945" progId="Visio.Drawing.15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0390" y="962025"/>
                        <a:ext cx="8992870" cy="5053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6085" y="1076325"/>
          <a:ext cx="11479530" cy="4966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6880225" imgH="2720975" progId="Visio.Drawing.15">
                  <p:embed/>
                </p:oleObj>
              </mc:Choice>
              <mc:Fallback>
                <p:oleObj name="" r:id="rId1" imgW="6880225" imgH="2720975" progId="Visio.Drawing.15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6085" y="1076325"/>
                        <a:ext cx="11479530" cy="4966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8595" y="331470"/>
            <a:ext cx="31184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二、</a:t>
            </a:r>
            <a:r>
              <a:rPr lang="en-US" altLang="zh-CN" sz="2400"/>
              <a:t>AI</a:t>
            </a:r>
            <a:r>
              <a:rPr lang="zh-CN" altLang="en-US" sz="2400">
                <a:sym typeface="+mn-ea"/>
              </a:rPr>
              <a:t>排障</a:t>
            </a:r>
            <a:r>
              <a:rPr lang="zh-CN" altLang="en-US" sz="2400"/>
              <a:t>基本架构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3620" y="756285"/>
          <a:ext cx="10676255" cy="467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7981950" imgH="3691255" progId="Visio.Drawing.15">
                  <p:embed/>
                </p:oleObj>
              </mc:Choice>
              <mc:Fallback>
                <p:oleObj name="" r:id="rId1" imgW="7981950" imgH="3691255" progId="Visio.Drawing.15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3620" y="756285"/>
                        <a:ext cx="10676255" cy="467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88595" y="331470"/>
            <a:ext cx="2456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三、</a:t>
            </a:r>
            <a:r>
              <a:rPr lang="en-US" altLang="zh-CN" sz="2400"/>
              <a:t>AI</a:t>
            </a:r>
            <a:r>
              <a:rPr lang="zh-CN" altLang="en-US" sz="2400">
                <a:sym typeface="+mn-ea"/>
              </a:rPr>
              <a:t>排障</a:t>
            </a:r>
            <a:r>
              <a:rPr lang="zh-CN" altLang="en-US" sz="2400"/>
              <a:t>工具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1028065" y="4998085"/>
            <a:ext cx="50679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下一步工作，试验工具方案跑通：</a:t>
            </a:r>
            <a:endParaRPr lang="zh-CN" altLang="en-US"/>
          </a:p>
          <a:p>
            <a:r>
              <a:rPr lang="zh-CN" altLang="en-US"/>
              <a:t>汇总</a:t>
            </a:r>
            <a:r>
              <a:rPr lang="zh-CN" altLang="en-US"/>
              <a:t>案例集，挑选重点</a:t>
            </a:r>
            <a:r>
              <a:rPr lang="zh-CN" altLang="en-US"/>
              <a:t>案例</a:t>
            </a:r>
            <a:endParaRPr lang="zh-CN" altLang="en-US"/>
          </a:p>
          <a:p>
            <a:r>
              <a:rPr lang="zh-CN" altLang="en-US"/>
              <a:t>提示</a:t>
            </a:r>
            <a:r>
              <a:rPr lang="zh-CN" altLang="en-US"/>
              <a:t>模板</a:t>
            </a:r>
            <a:endParaRPr lang="zh-CN" altLang="en-US"/>
          </a:p>
          <a:p>
            <a:r>
              <a:rPr lang="zh-CN" altLang="en-US"/>
              <a:t>训练</a:t>
            </a:r>
            <a:r>
              <a:rPr lang="en-US" altLang="zh-CN"/>
              <a:t>S</a:t>
            </a:r>
            <a:r>
              <a:rPr lang="en-US" altLang="zh-CN"/>
              <a:t>kill</a:t>
            </a:r>
            <a:endParaRPr lang="en-US" altLang="zh-CN"/>
          </a:p>
          <a:p>
            <a:r>
              <a:rPr lang="zh-CN" altLang="en-US"/>
              <a:t>知识库</a:t>
            </a:r>
            <a:r>
              <a:rPr lang="zh-CN" altLang="en-US"/>
              <a:t>重构</a:t>
            </a:r>
            <a:endParaRPr lang="zh-CN" altLang="en-US"/>
          </a:p>
          <a:p>
            <a:r>
              <a:rPr lang="zh-CN" altLang="en-US"/>
              <a:t>搭建基本工具</a:t>
            </a:r>
            <a:r>
              <a:rPr lang="zh-CN" altLang="en-US"/>
              <a:t>底座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65855" y="0"/>
          <a:ext cx="444246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" imgW="5272405" imgH="8695055" progId="Word.Document.12">
                  <p:embed/>
                </p:oleObj>
              </mc:Choice>
              <mc:Fallback>
                <p:oleObj name="" r:id="rId1" imgW="5272405" imgH="8695055" progId="Word.Document.12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65855" y="0"/>
                        <a:ext cx="444246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1.xml><?xml version="1.0" encoding="utf-8"?>
<p:tagLst xmlns:p="http://schemas.openxmlformats.org/presentationml/2006/main">
  <p:tag name="TABLE_ENDDRAG_ORIGIN_RECT" val="803*424"/>
  <p:tag name="TABLE_ENDDRAG_RECT" val="78*78*803*424"/>
</p:tagLst>
</file>

<file path=ppt/tags/tag12.xml><?xml version="1.0" encoding="utf-8"?>
<p:tagLst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ags/tag13.xml><?xml version="1.0" encoding="utf-8"?>
<p:tagLst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ags/tag14.xml><?xml version="1.0" encoding="utf-8"?>
<p:tagLst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ags/tag15.xml><?xml version="1.0" encoding="utf-8"?>
<p:tagLst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ags/tag16.xml><?xml version="1.0" encoding="utf-8"?>
<p:tagLst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ags/tag17.xml><?xml version="1.0" encoding="utf-8"?>
<p:tagLst xmlns:p="http://schemas.openxmlformats.org/presentationml/2006/main">
  <p:tag name="COMMONDATA" val="eyJoZGlkIjoiOWI3MTY0MDQyYTQ0NGM1NDU5Yzk0ZGZkZmY2M2YyZWEifQ=="/>
  <p:tag name="RESOURCE_RECORD_KEY" val="{&quot;13&quot;:[20419712,20419718,4680684,4563123,4364974],&quot;65&quot;:[20205176],&quot;70&quot;:[3325978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WPS 演示</Application>
  <PresentationFormat>宽屏</PresentationFormat>
  <Paragraphs>153</Paragraphs>
  <Slides>5</Slides>
  <Notes>65</Notes>
  <HiddenSlides>0</HiddenSlides>
  <MMClips>1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 Light</vt:lpstr>
      <vt:lpstr>Arial Unicode MS</vt:lpstr>
      <vt:lpstr>Office 主题​​</vt:lpstr>
      <vt:lpstr>Word.Document.12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DPtech</dc:creator>
  <cp:lastModifiedBy>笨笨磊</cp:lastModifiedBy>
  <cp:revision>2425</cp:revision>
  <cp:lastPrinted>2022-03-01T07:04:00Z</cp:lastPrinted>
  <dcterms:created xsi:type="dcterms:W3CDTF">2019-06-19T02:08:00Z</dcterms:created>
  <dcterms:modified xsi:type="dcterms:W3CDTF">2026-06-23T06:52:01Z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0A02FEA41F2044AFABD6E7AD46DA0746_13</vt:lpwstr>
  </property>
</Properties>
</file>